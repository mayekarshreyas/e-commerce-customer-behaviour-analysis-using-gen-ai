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0" r:id="rId3"/>
    <p:sldId id="261" r:id="rId4"/>
    <p:sldId id="262" r:id="rId5"/>
    <p:sldId id="273" r:id="rId6"/>
    <p:sldId id="271" r:id="rId7"/>
    <p:sldId id="272" r:id="rId8"/>
    <p:sldId id="265" r:id="rId9"/>
    <p:sldId id="266" r:id="rId10"/>
    <p:sldId id="267" r:id="rId11"/>
    <p:sldId id="268" r:id="rId12"/>
    <p:sldId id="269" r:id="rId13"/>
    <p:sldId id="270" r:id="rId14"/>
    <p:sldId id="263" r:id="rId15"/>
    <p:sldId id="26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5BF91-4EC5-6F36-17E3-12B381FF0F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3C522DC-4CBB-E34F-DF4D-6C1D2E7F1C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C6B5308-CD10-0691-6358-4DA593CB3E52}"/>
              </a:ext>
            </a:extLst>
          </p:cNvPr>
          <p:cNvSpPr>
            <a:spLocks noGrp="1"/>
          </p:cNvSpPr>
          <p:nvPr>
            <p:ph type="dt" sz="half" idx="10"/>
          </p:nvPr>
        </p:nvSpPr>
        <p:spPr/>
        <p:txBody>
          <a:bodyPr/>
          <a:lstStyle/>
          <a:p>
            <a:fld id="{E3A89B4E-E796-4720-85C9-D41FAF8D27D6}" type="datetimeFigureOut">
              <a:rPr lang="en-IN" smtClean="0"/>
              <a:t>19-06-2026</a:t>
            </a:fld>
            <a:endParaRPr lang="en-IN"/>
          </a:p>
        </p:txBody>
      </p:sp>
      <p:sp>
        <p:nvSpPr>
          <p:cNvPr id="5" name="Footer Placeholder 4">
            <a:extLst>
              <a:ext uri="{FF2B5EF4-FFF2-40B4-BE49-F238E27FC236}">
                <a16:creationId xmlns:a16="http://schemas.microsoft.com/office/drawing/2014/main" id="{2D924584-9D38-99EC-489B-B1C046C038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E04DA1-A583-9A1B-ED91-8CC7EAB88813}"/>
              </a:ext>
            </a:extLst>
          </p:cNvPr>
          <p:cNvSpPr>
            <a:spLocks noGrp="1"/>
          </p:cNvSpPr>
          <p:nvPr>
            <p:ph type="sldNum" sz="quarter" idx="12"/>
          </p:nvPr>
        </p:nvSpPr>
        <p:spPr/>
        <p:txBody>
          <a:bodyPr/>
          <a:lstStyle/>
          <a:p>
            <a:fld id="{11529FDE-1BCB-483E-801D-27F17863ECC2}" type="slidenum">
              <a:rPr lang="en-IN" smtClean="0"/>
              <a:t>‹#›</a:t>
            </a:fld>
            <a:endParaRPr lang="en-IN"/>
          </a:p>
        </p:txBody>
      </p:sp>
    </p:spTree>
    <p:extLst>
      <p:ext uri="{BB962C8B-B14F-4D97-AF65-F5344CB8AC3E}">
        <p14:creationId xmlns:p14="http://schemas.microsoft.com/office/powerpoint/2010/main" val="714784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27FEF-EDE9-1F48-16EF-D72D11C8695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EE6EAC-2923-A06F-DF4D-5F613D0C49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7C42ED-684B-2A54-7450-D99D0843E3A5}"/>
              </a:ext>
            </a:extLst>
          </p:cNvPr>
          <p:cNvSpPr>
            <a:spLocks noGrp="1"/>
          </p:cNvSpPr>
          <p:nvPr>
            <p:ph type="dt" sz="half" idx="10"/>
          </p:nvPr>
        </p:nvSpPr>
        <p:spPr/>
        <p:txBody>
          <a:bodyPr/>
          <a:lstStyle/>
          <a:p>
            <a:fld id="{E3A89B4E-E796-4720-85C9-D41FAF8D27D6}" type="datetimeFigureOut">
              <a:rPr lang="en-IN" smtClean="0"/>
              <a:t>19-06-2026</a:t>
            </a:fld>
            <a:endParaRPr lang="en-IN"/>
          </a:p>
        </p:txBody>
      </p:sp>
      <p:sp>
        <p:nvSpPr>
          <p:cNvPr id="5" name="Footer Placeholder 4">
            <a:extLst>
              <a:ext uri="{FF2B5EF4-FFF2-40B4-BE49-F238E27FC236}">
                <a16:creationId xmlns:a16="http://schemas.microsoft.com/office/drawing/2014/main" id="{8D0FBCF8-8A75-C52F-C77B-D1F12BF50F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A20515-3611-C042-276A-589D7D3072BA}"/>
              </a:ext>
            </a:extLst>
          </p:cNvPr>
          <p:cNvSpPr>
            <a:spLocks noGrp="1"/>
          </p:cNvSpPr>
          <p:nvPr>
            <p:ph type="sldNum" sz="quarter" idx="12"/>
          </p:nvPr>
        </p:nvSpPr>
        <p:spPr/>
        <p:txBody>
          <a:bodyPr/>
          <a:lstStyle/>
          <a:p>
            <a:fld id="{11529FDE-1BCB-483E-801D-27F17863ECC2}" type="slidenum">
              <a:rPr lang="en-IN" smtClean="0"/>
              <a:t>‹#›</a:t>
            </a:fld>
            <a:endParaRPr lang="en-IN"/>
          </a:p>
        </p:txBody>
      </p:sp>
    </p:spTree>
    <p:extLst>
      <p:ext uri="{BB962C8B-B14F-4D97-AF65-F5344CB8AC3E}">
        <p14:creationId xmlns:p14="http://schemas.microsoft.com/office/powerpoint/2010/main" val="258245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F8427-069D-4556-4E2C-FC3370A9E3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31B37BD-7FAA-E702-D839-B66D433D69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388FF2-620A-E1F2-5037-B9416B7DF61B}"/>
              </a:ext>
            </a:extLst>
          </p:cNvPr>
          <p:cNvSpPr>
            <a:spLocks noGrp="1"/>
          </p:cNvSpPr>
          <p:nvPr>
            <p:ph type="dt" sz="half" idx="10"/>
          </p:nvPr>
        </p:nvSpPr>
        <p:spPr/>
        <p:txBody>
          <a:bodyPr/>
          <a:lstStyle/>
          <a:p>
            <a:fld id="{E3A89B4E-E796-4720-85C9-D41FAF8D27D6}" type="datetimeFigureOut">
              <a:rPr lang="en-IN" smtClean="0"/>
              <a:t>19-06-2026</a:t>
            </a:fld>
            <a:endParaRPr lang="en-IN"/>
          </a:p>
        </p:txBody>
      </p:sp>
      <p:sp>
        <p:nvSpPr>
          <p:cNvPr id="5" name="Footer Placeholder 4">
            <a:extLst>
              <a:ext uri="{FF2B5EF4-FFF2-40B4-BE49-F238E27FC236}">
                <a16:creationId xmlns:a16="http://schemas.microsoft.com/office/drawing/2014/main" id="{8A0AB2A3-8030-8B29-1CF9-90BAC873D5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9950C5-AAE8-2A27-F76D-47D32E77763C}"/>
              </a:ext>
            </a:extLst>
          </p:cNvPr>
          <p:cNvSpPr>
            <a:spLocks noGrp="1"/>
          </p:cNvSpPr>
          <p:nvPr>
            <p:ph type="sldNum" sz="quarter" idx="12"/>
          </p:nvPr>
        </p:nvSpPr>
        <p:spPr/>
        <p:txBody>
          <a:bodyPr/>
          <a:lstStyle/>
          <a:p>
            <a:fld id="{11529FDE-1BCB-483E-801D-27F17863ECC2}" type="slidenum">
              <a:rPr lang="en-IN" smtClean="0"/>
              <a:t>‹#›</a:t>
            </a:fld>
            <a:endParaRPr lang="en-IN"/>
          </a:p>
        </p:txBody>
      </p:sp>
    </p:spTree>
    <p:extLst>
      <p:ext uri="{BB962C8B-B14F-4D97-AF65-F5344CB8AC3E}">
        <p14:creationId xmlns:p14="http://schemas.microsoft.com/office/powerpoint/2010/main" val="2548959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5C62D-2B9B-448C-29AE-6B183DC453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8444C1-4396-9FAF-BF1D-D29C030503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4B94BE8-C456-1302-83FF-70206C50BF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9ACB1BF-5106-79FC-6835-8EE9BD767B2B}"/>
              </a:ext>
            </a:extLst>
          </p:cNvPr>
          <p:cNvSpPr>
            <a:spLocks noGrp="1"/>
          </p:cNvSpPr>
          <p:nvPr>
            <p:ph type="dt" sz="half" idx="10"/>
          </p:nvPr>
        </p:nvSpPr>
        <p:spPr/>
        <p:txBody>
          <a:bodyPr/>
          <a:lstStyle/>
          <a:p>
            <a:fld id="{E3A89B4E-E796-4720-85C9-D41FAF8D27D6}" type="datetimeFigureOut">
              <a:rPr lang="en-IN" smtClean="0"/>
              <a:t>19-06-2026</a:t>
            </a:fld>
            <a:endParaRPr lang="en-IN"/>
          </a:p>
        </p:txBody>
      </p:sp>
      <p:sp>
        <p:nvSpPr>
          <p:cNvPr id="6" name="Footer Placeholder 5">
            <a:extLst>
              <a:ext uri="{FF2B5EF4-FFF2-40B4-BE49-F238E27FC236}">
                <a16:creationId xmlns:a16="http://schemas.microsoft.com/office/drawing/2014/main" id="{B857E489-7C66-EB06-BDE7-63EBFCE831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BDC616-D799-15A8-ADD5-C8998C569A85}"/>
              </a:ext>
            </a:extLst>
          </p:cNvPr>
          <p:cNvSpPr>
            <a:spLocks noGrp="1"/>
          </p:cNvSpPr>
          <p:nvPr>
            <p:ph type="sldNum" sz="quarter" idx="12"/>
          </p:nvPr>
        </p:nvSpPr>
        <p:spPr/>
        <p:txBody>
          <a:bodyPr/>
          <a:lstStyle/>
          <a:p>
            <a:fld id="{11529FDE-1BCB-483E-801D-27F17863ECC2}" type="slidenum">
              <a:rPr lang="en-IN" smtClean="0"/>
              <a:t>‹#›</a:t>
            </a:fld>
            <a:endParaRPr lang="en-IN"/>
          </a:p>
        </p:txBody>
      </p:sp>
    </p:spTree>
    <p:extLst>
      <p:ext uri="{BB962C8B-B14F-4D97-AF65-F5344CB8AC3E}">
        <p14:creationId xmlns:p14="http://schemas.microsoft.com/office/powerpoint/2010/main" val="1192975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6E3F1-5054-710A-5751-35A4151ECA4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483CEE-87ED-DD9C-1AA7-F3FFD7B323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E5DD0F-6A4E-8084-911C-54CE97B938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C0881F6-AA2A-BB24-C15C-D7109352D2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18286D-D8D2-9D02-2930-C1BB56838F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F63D6B4-63A0-5AF0-EEB3-F20FC9C67849}"/>
              </a:ext>
            </a:extLst>
          </p:cNvPr>
          <p:cNvSpPr>
            <a:spLocks noGrp="1"/>
          </p:cNvSpPr>
          <p:nvPr>
            <p:ph type="dt" sz="half" idx="10"/>
          </p:nvPr>
        </p:nvSpPr>
        <p:spPr/>
        <p:txBody>
          <a:bodyPr/>
          <a:lstStyle/>
          <a:p>
            <a:fld id="{E3A89B4E-E796-4720-85C9-D41FAF8D27D6}" type="datetimeFigureOut">
              <a:rPr lang="en-IN" smtClean="0"/>
              <a:t>19-06-2026</a:t>
            </a:fld>
            <a:endParaRPr lang="en-IN"/>
          </a:p>
        </p:txBody>
      </p:sp>
      <p:sp>
        <p:nvSpPr>
          <p:cNvPr id="8" name="Footer Placeholder 7">
            <a:extLst>
              <a:ext uri="{FF2B5EF4-FFF2-40B4-BE49-F238E27FC236}">
                <a16:creationId xmlns:a16="http://schemas.microsoft.com/office/drawing/2014/main" id="{865F5FF4-67E8-D1E5-B896-F629117D338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7464D78-4501-6F77-8965-B244A27351BE}"/>
              </a:ext>
            </a:extLst>
          </p:cNvPr>
          <p:cNvSpPr>
            <a:spLocks noGrp="1"/>
          </p:cNvSpPr>
          <p:nvPr>
            <p:ph type="sldNum" sz="quarter" idx="12"/>
          </p:nvPr>
        </p:nvSpPr>
        <p:spPr/>
        <p:txBody>
          <a:bodyPr/>
          <a:lstStyle/>
          <a:p>
            <a:fld id="{11529FDE-1BCB-483E-801D-27F17863ECC2}" type="slidenum">
              <a:rPr lang="en-IN" smtClean="0"/>
              <a:t>‹#›</a:t>
            </a:fld>
            <a:endParaRPr lang="en-IN"/>
          </a:p>
        </p:txBody>
      </p:sp>
    </p:spTree>
    <p:extLst>
      <p:ext uri="{BB962C8B-B14F-4D97-AF65-F5344CB8AC3E}">
        <p14:creationId xmlns:p14="http://schemas.microsoft.com/office/powerpoint/2010/main" val="2773684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2D8CB-89BB-0B31-310D-A7759FC87C1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75691CF-FDA3-2963-991D-15DE85E4D28B}"/>
              </a:ext>
            </a:extLst>
          </p:cNvPr>
          <p:cNvSpPr>
            <a:spLocks noGrp="1"/>
          </p:cNvSpPr>
          <p:nvPr>
            <p:ph type="dt" sz="half" idx="10"/>
          </p:nvPr>
        </p:nvSpPr>
        <p:spPr/>
        <p:txBody>
          <a:bodyPr/>
          <a:lstStyle/>
          <a:p>
            <a:fld id="{E3A89B4E-E796-4720-85C9-D41FAF8D27D6}" type="datetimeFigureOut">
              <a:rPr lang="en-IN" smtClean="0"/>
              <a:t>19-06-2026</a:t>
            </a:fld>
            <a:endParaRPr lang="en-IN"/>
          </a:p>
        </p:txBody>
      </p:sp>
      <p:sp>
        <p:nvSpPr>
          <p:cNvPr id="4" name="Footer Placeholder 3">
            <a:extLst>
              <a:ext uri="{FF2B5EF4-FFF2-40B4-BE49-F238E27FC236}">
                <a16:creationId xmlns:a16="http://schemas.microsoft.com/office/drawing/2014/main" id="{908FD490-36CB-B9BB-AAD5-4F6C26192D0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542463A-C9C3-7200-2218-1BC457DA371E}"/>
              </a:ext>
            </a:extLst>
          </p:cNvPr>
          <p:cNvSpPr>
            <a:spLocks noGrp="1"/>
          </p:cNvSpPr>
          <p:nvPr>
            <p:ph type="sldNum" sz="quarter" idx="12"/>
          </p:nvPr>
        </p:nvSpPr>
        <p:spPr/>
        <p:txBody>
          <a:bodyPr/>
          <a:lstStyle/>
          <a:p>
            <a:fld id="{11529FDE-1BCB-483E-801D-27F17863ECC2}" type="slidenum">
              <a:rPr lang="en-IN" smtClean="0"/>
              <a:t>‹#›</a:t>
            </a:fld>
            <a:endParaRPr lang="en-IN"/>
          </a:p>
        </p:txBody>
      </p:sp>
    </p:spTree>
    <p:extLst>
      <p:ext uri="{BB962C8B-B14F-4D97-AF65-F5344CB8AC3E}">
        <p14:creationId xmlns:p14="http://schemas.microsoft.com/office/powerpoint/2010/main" val="4024723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2BAB7D-1309-DB71-9F7D-010564AD5FF6}"/>
              </a:ext>
            </a:extLst>
          </p:cNvPr>
          <p:cNvSpPr>
            <a:spLocks noGrp="1"/>
          </p:cNvSpPr>
          <p:nvPr>
            <p:ph type="dt" sz="half" idx="10"/>
          </p:nvPr>
        </p:nvSpPr>
        <p:spPr/>
        <p:txBody>
          <a:bodyPr/>
          <a:lstStyle/>
          <a:p>
            <a:fld id="{E3A89B4E-E796-4720-85C9-D41FAF8D27D6}" type="datetimeFigureOut">
              <a:rPr lang="en-IN" smtClean="0"/>
              <a:t>19-06-2026</a:t>
            </a:fld>
            <a:endParaRPr lang="en-IN"/>
          </a:p>
        </p:txBody>
      </p:sp>
      <p:sp>
        <p:nvSpPr>
          <p:cNvPr id="3" name="Footer Placeholder 2">
            <a:extLst>
              <a:ext uri="{FF2B5EF4-FFF2-40B4-BE49-F238E27FC236}">
                <a16:creationId xmlns:a16="http://schemas.microsoft.com/office/drawing/2014/main" id="{E7E4F6C6-061B-2CDA-C6EA-56E93D68599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DB5D8A-8E86-28B9-C1A8-BBFF9DD2ED3D}"/>
              </a:ext>
            </a:extLst>
          </p:cNvPr>
          <p:cNvSpPr>
            <a:spLocks noGrp="1"/>
          </p:cNvSpPr>
          <p:nvPr>
            <p:ph type="sldNum" sz="quarter" idx="12"/>
          </p:nvPr>
        </p:nvSpPr>
        <p:spPr/>
        <p:txBody>
          <a:bodyPr/>
          <a:lstStyle/>
          <a:p>
            <a:fld id="{11529FDE-1BCB-483E-801D-27F17863ECC2}" type="slidenum">
              <a:rPr lang="en-IN" smtClean="0"/>
              <a:t>‹#›</a:t>
            </a:fld>
            <a:endParaRPr lang="en-IN"/>
          </a:p>
        </p:txBody>
      </p:sp>
    </p:spTree>
    <p:extLst>
      <p:ext uri="{BB962C8B-B14F-4D97-AF65-F5344CB8AC3E}">
        <p14:creationId xmlns:p14="http://schemas.microsoft.com/office/powerpoint/2010/main" val="603709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8CE67-54CD-19C2-D91E-E3DAB0295D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B31185A-9629-658C-30DF-C4EC26A1DE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EC6FFB-87F1-4D8D-B228-903ED52194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2CD304-BC11-E724-6DE2-A96A34C3ADFD}"/>
              </a:ext>
            </a:extLst>
          </p:cNvPr>
          <p:cNvSpPr>
            <a:spLocks noGrp="1"/>
          </p:cNvSpPr>
          <p:nvPr>
            <p:ph type="dt" sz="half" idx="10"/>
          </p:nvPr>
        </p:nvSpPr>
        <p:spPr/>
        <p:txBody>
          <a:bodyPr/>
          <a:lstStyle/>
          <a:p>
            <a:fld id="{E3A89B4E-E796-4720-85C9-D41FAF8D27D6}" type="datetimeFigureOut">
              <a:rPr lang="en-IN" smtClean="0"/>
              <a:t>19-06-2026</a:t>
            </a:fld>
            <a:endParaRPr lang="en-IN"/>
          </a:p>
        </p:txBody>
      </p:sp>
      <p:sp>
        <p:nvSpPr>
          <p:cNvPr id="6" name="Footer Placeholder 5">
            <a:extLst>
              <a:ext uri="{FF2B5EF4-FFF2-40B4-BE49-F238E27FC236}">
                <a16:creationId xmlns:a16="http://schemas.microsoft.com/office/drawing/2014/main" id="{B590D0B7-3BE3-09B3-9F50-F14226158E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E78347-398C-A61D-C462-60279B9DC89D}"/>
              </a:ext>
            </a:extLst>
          </p:cNvPr>
          <p:cNvSpPr>
            <a:spLocks noGrp="1"/>
          </p:cNvSpPr>
          <p:nvPr>
            <p:ph type="sldNum" sz="quarter" idx="12"/>
          </p:nvPr>
        </p:nvSpPr>
        <p:spPr/>
        <p:txBody>
          <a:bodyPr/>
          <a:lstStyle/>
          <a:p>
            <a:fld id="{11529FDE-1BCB-483E-801D-27F17863ECC2}" type="slidenum">
              <a:rPr lang="en-IN" smtClean="0"/>
              <a:t>‹#›</a:t>
            </a:fld>
            <a:endParaRPr lang="en-IN"/>
          </a:p>
        </p:txBody>
      </p:sp>
    </p:spTree>
    <p:extLst>
      <p:ext uri="{BB962C8B-B14F-4D97-AF65-F5344CB8AC3E}">
        <p14:creationId xmlns:p14="http://schemas.microsoft.com/office/powerpoint/2010/main" val="703956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EBC0D-011F-8E14-BC78-C90E6281BE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F51318D-BA9D-E5C0-AF7A-3913319165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FF2C1D4-00C9-F780-B5C1-9722F00E46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8BF196-0372-EF2C-5C7A-F1710A4CD593}"/>
              </a:ext>
            </a:extLst>
          </p:cNvPr>
          <p:cNvSpPr>
            <a:spLocks noGrp="1"/>
          </p:cNvSpPr>
          <p:nvPr>
            <p:ph type="dt" sz="half" idx="10"/>
          </p:nvPr>
        </p:nvSpPr>
        <p:spPr/>
        <p:txBody>
          <a:bodyPr/>
          <a:lstStyle/>
          <a:p>
            <a:fld id="{E3A89B4E-E796-4720-85C9-D41FAF8D27D6}" type="datetimeFigureOut">
              <a:rPr lang="en-IN" smtClean="0"/>
              <a:t>19-06-2026</a:t>
            </a:fld>
            <a:endParaRPr lang="en-IN"/>
          </a:p>
        </p:txBody>
      </p:sp>
      <p:sp>
        <p:nvSpPr>
          <p:cNvPr id="6" name="Footer Placeholder 5">
            <a:extLst>
              <a:ext uri="{FF2B5EF4-FFF2-40B4-BE49-F238E27FC236}">
                <a16:creationId xmlns:a16="http://schemas.microsoft.com/office/drawing/2014/main" id="{A8D1E9DD-F509-33C4-1209-6E0DE7A7EF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172122-1FB7-2478-F0B4-D59B4D98FF25}"/>
              </a:ext>
            </a:extLst>
          </p:cNvPr>
          <p:cNvSpPr>
            <a:spLocks noGrp="1"/>
          </p:cNvSpPr>
          <p:nvPr>
            <p:ph type="sldNum" sz="quarter" idx="12"/>
          </p:nvPr>
        </p:nvSpPr>
        <p:spPr/>
        <p:txBody>
          <a:bodyPr/>
          <a:lstStyle/>
          <a:p>
            <a:fld id="{11529FDE-1BCB-483E-801D-27F17863ECC2}" type="slidenum">
              <a:rPr lang="en-IN" smtClean="0"/>
              <a:t>‹#›</a:t>
            </a:fld>
            <a:endParaRPr lang="en-IN"/>
          </a:p>
        </p:txBody>
      </p:sp>
    </p:spTree>
    <p:extLst>
      <p:ext uri="{BB962C8B-B14F-4D97-AF65-F5344CB8AC3E}">
        <p14:creationId xmlns:p14="http://schemas.microsoft.com/office/powerpoint/2010/main" val="885095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47606-93D1-A88C-9768-94467D580AE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4A2BA7-07B8-9604-A87F-C4B0BD3CC2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A2209F-368E-3532-00D6-159BF8FED0CC}"/>
              </a:ext>
            </a:extLst>
          </p:cNvPr>
          <p:cNvSpPr>
            <a:spLocks noGrp="1"/>
          </p:cNvSpPr>
          <p:nvPr>
            <p:ph type="dt" sz="half" idx="10"/>
          </p:nvPr>
        </p:nvSpPr>
        <p:spPr/>
        <p:txBody>
          <a:bodyPr/>
          <a:lstStyle/>
          <a:p>
            <a:fld id="{E3A89B4E-E796-4720-85C9-D41FAF8D27D6}" type="datetimeFigureOut">
              <a:rPr lang="en-IN" smtClean="0"/>
              <a:t>19-06-2026</a:t>
            </a:fld>
            <a:endParaRPr lang="en-IN"/>
          </a:p>
        </p:txBody>
      </p:sp>
      <p:sp>
        <p:nvSpPr>
          <p:cNvPr id="5" name="Footer Placeholder 4">
            <a:extLst>
              <a:ext uri="{FF2B5EF4-FFF2-40B4-BE49-F238E27FC236}">
                <a16:creationId xmlns:a16="http://schemas.microsoft.com/office/drawing/2014/main" id="{620AC0AD-0B85-9E94-81C7-51E3BE8045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6CFAA0-F73C-277E-D614-77F742423709}"/>
              </a:ext>
            </a:extLst>
          </p:cNvPr>
          <p:cNvSpPr>
            <a:spLocks noGrp="1"/>
          </p:cNvSpPr>
          <p:nvPr>
            <p:ph type="sldNum" sz="quarter" idx="12"/>
          </p:nvPr>
        </p:nvSpPr>
        <p:spPr/>
        <p:txBody>
          <a:bodyPr/>
          <a:lstStyle/>
          <a:p>
            <a:fld id="{11529FDE-1BCB-483E-801D-27F17863ECC2}" type="slidenum">
              <a:rPr lang="en-IN" smtClean="0"/>
              <a:t>‹#›</a:t>
            </a:fld>
            <a:endParaRPr lang="en-IN"/>
          </a:p>
        </p:txBody>
      </p:sp>
    </p:spTree>
    <p:extLst>
      <p:ext uri="{BB962C8B-B14F-4D97-AF65-F5344CB8AC3E}">
        <p14:creationId xmlns:p14="http://schemas.microsoft.com/office/powerpoint/2010/main" val="3523320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C7C0DD-A9EC-9C83-11A3-AEA80701A4E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FDAD51-DEBE-327F-6156-91B7A89787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1C5DFB-89B1-A235-17EB-F26080BA2C25}"/>
              </a:ext>
            </a:extLst>
          </p:cNvPr>
          <p:cNvSpPr>
            <a:spLocks noGrp="1"/>
          </p:cNvSpPr>
          <p:nvPr>
            <p:ph type="dt" sz="half" idx="10"/>
          </p:nvPr>
        </p:nvSpPr>
        <p:spPr/>
        <p:txBody>
          <a:bodyPr/>
          <a:lstStyle/>
          <a:p>
            <a:fld id="{E3A89B4E-E796-4720-85C9-D41FAF8D27D6}" type="datetimeFigureOut">
              <a:rPr lang="en-IN" smtClean="0"/>
              <a:t>19-06-2026</a:t>
            </a:fld>
            <a:endParaRPr lang="en-IN"/>
          </a:p>
        </p:txBody>
      </p:sp>
      <p:sp>
        <p:nvSpPr>
          <p:cNvPr id="5" name="Footer Placeholder 4">
            <a:extLst>
              <a:ext uri="{FF2B5EF4-FFF2-40B4-BE49-F238E27FC236}">
                <a16:creationId xmlns:a16="http://schemas.microsoft.com/office/drawing/2014/main" id="{1A6E8C33-A4D9-9EEF-7938-E7E544A6FF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DBC15A-1D13-74E4-F427-B6DB59897A19}"/>
              </a:ext>
            </a:extLst>
          </p:cNvPr>
          <p:cNvSpPr>
            <a:spLocks noGrp="1"/>
          </p:cNvSpPr>
          <p:nvPr>
            <p:ph type="sldNum" sz="quarter" idx="12"/>
          </p:nvPr>
        </p:nvSpPr>
        <p:spPr/>
        <p:txBody>
          <a:bodyPr/>
          <a:lstStyle/>
          <a:p>
            <a:fld id="{11529FDE-1BCB-483E-801D-27F17863ECC2}" type="slidenum">
              <a:rPr lang="en-IN" smtClean="0"/>
              <a:t>‹#›</a:t>
            </a:fld>
            <a:endParaRPr lang="en-IN"/>
          </a:p>
        </p:txBody>
      </p:sp>
    </p:spTree>
    <p:extLst>
      <p:ext uri="{BB962C8B-B14F-4D97-AF65-F5344CB8AC3E}">
        <p14:creationId xmlns:p14="http://schemas.microsoft.com/office/powerpoint/2010/main" val="2214646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EE6C1B-BCC2-FBBF-366C-9B2433DD68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FEDFF3-7963-3703-7EA6-4F763B874F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A4127B-FB56-2C49-D8D6-5AA8537926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A89B4E-E796-4720-85C9-D41FAF8D27D6}" type="datetimeFigureOut">
              <a:rPr lang="en-IN" smtClean="0"/>
              <a:t>19-06-2026</a:t>
            </a:fld>
            <a:endParaRPr lang="en-IN"/>
          </a:p>
        </p:txBody>
      </p:sp>
      <p:sp>
        <p:nvSpPr>
          <p:cNvPr id="5" name="Footer Placeholder 4">
            <a:extLst>
              <a:ext uri="{FF2B5EF4-FFF2-40B4-BE49-F238E27FC236}">
                <a16:creationId xmlns:a16="http://schemas.microsoft.com/office/drawing/2014/main" id="{C0FFC8D9-3C21-6FFE-7ABE-3807BB7870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C8E4EAB-CF42-66CD-F139-E64FA9671F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529FDE-1BCB-483E-801D-27F17863ECC2}" type="slidenum">
              <a:rPr lang="en-IN" smtClean="0"/>
              <a:t>‹#›</a:t>
            </a:fld>
            <a:endParaRPr lang="en-IN"/>
          </a:p>
        </p:txBody>
      </p:sp>
    </p:spTree>
    <p:extLst>
      <p:ext uri="{BB962C8B-B14F-4D97-AF65-F5344CB8AC3E}">
        <p14:creationId xmlns:p14="http://schemas.microsoft.com/office/powerpoint/2010/main" val="323111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82BFC-B5F7-2C4C-1313-A02E8FED0E84}"/>
              </a:ext>
            </a:extLst>
          </p:cNvPr>
          <p:cNvSpPr>
            <a:spLocks noGrp="1"/>
          </p:cNvSpPr>
          <p:nvPr>
            <p:ph type="title"/>
          </p:nvPr>
        </p:nvSpPr>
        <p:spPr>
          <a:xfrm>
            <a:off x="568632" y="371325"/>
            <a:ext cx="11099800" cy="1325563"/>
          </a:xfrm>
        </p:spPr>
        <p:txBody>
          <a:bodyPr/>
          <a:lstStyle/>
          <a:p>
            <a:r>
              <a:rPr lang="en-IN" b="1" dirty="0">
                <a:latin typeface="Cambria" panose="02040503050406030204" pitchFamily="18" charset="0"/>
                <a:ea typeface="Cambria" panose="02040503050406030204" pitchFamily="18" charset="0"/>
              </a:rPr>
              <a:t>E-Commerce Customer Behaviour Analysis 			       using Gen AI</a:t>
            </a:r>
          </a:p>
        </p:txBody>
      </p:sp>
      <p:sp>
        <p:nvSpPr>
          <p:cNvPr id="3" name="Content Placeholder 2">
            <a:extLst>
              <a:ext uri="{FF2B5EF4-FFF2-40B4-BE49-F238E27FC236}">
                <a16:creationId xmlns:a16="http://schemas.microsoft.com/office/drawing/2014/main" id="{4EDECDDF-5B43-3C1A-D996-D2B80FB021E0}"/>
              </a:ext>
            </a:extLst>
          </p:cNvPr>
          <p:cNvSpPr>
            <a:spLocks noGrp="1"/>
          </p:cNvSpPr>
          <p:nvPr>
            <p:ph idx="1"/>
          </p:nvPr>
        </p:nvSpPr>
        <p:spPr>
          <a:xfrm>
            <a:off x="1569472" y="1960771"/>
            <a:ext cx="10124768" cy="484956"/>
          </a:xfrm>
        </p:spPr>
        <p:txBody>
          <a:bodyPr/>
          <a:lstStyle/>
          <a:p>
            <a:pPr marL="0" indent="0">
              <a:buNone/>
            </a:pPr>
            <a:r>
              <a:rPr lang="en-US" dirty="0"/>
              <a:t>Transforming Customer Data into Actionable Business Insights</a:t>
            </a:r>
            <a:endParaRPr lang="en-IN" dirty="0"/>
          </a:p>
        </p:txBody>
      </p:sp>
      <p:sp>
        <p:nvSpPr>
          <p:cNvPr id="5" name="Rectangle 4">
            <a:extLst>
              <a:ext uri="{FF2B5EF4-FFF2-40B4-BE49-F238E27FC236}">
                <a16:creationId xmlns:a16="http://schemas.microsoft.com/office/drawing/2014/main" id="{DF2D2297-FDF4-77F7-3ABF-D03ADC86396B}"/>
              </a:ext>
            </a:extLst>
          </p:cNvPr>
          <p:cNvSpPr/>
          <p:nvPr/>
        </p:nvSpPr>
        <p:spPr>
          <a:xfrm>
            <a:off x="2949677" y="3303639"/>
            <a:ext cx="6636775" cy="22024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dirty="0">
              <a:solidFill>
                <a:schemeClr val="tx1"/>
              </a:solidFill>
            </a:endParaRPr>
          </a:p>
        </p:txBody>
      </p:sp>
      <p:sp>
        <p:nvSpPr>
          <p:cNvPr id="7" name="Rectangle 6">
            <a:extLst>
              <a:ext uri="{FF2B5EF4-FFF2-40B4-BE49-F238E27FC236}">
                <a16:creationId xmlns:a16="http://schemas.microsoft.com/office/drawing/2014/main" id="{2BF6657D-6841-DB86-204D-2FBA7C59E58D}"/>
              </a:ext>
            </a:extLst>
          </p:cNvPr>
          <p:cNvSpPr/>
          <p:nvPr/>
        </p:nvSpPr>
        <p:spPr>
          <a:xfrm>
            <a:off x="3167215" y="3085493"/>
            <a:ext cx="4197145" cy="7126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rPr>
              <a:t>Name : Shreyas Rajendra Mayekar</a:t>
            </a:r>
          </a:p>
          <a:p>
            <a:pPr algn="ctr"/>
            <a:endParaRPr lang="en-IN" sz="2000" dirty="0"/>
          </a:p>
        </p:txBody>
      </p:sp>
      <p:sp>
        <p:nvSpPr>
          <p:cNvPr id="8" name="Rectangle 7">
            <a:extLst>
              <a:ext uri="{FF2B5EF4-FFF2-40B4-BE49-F238E27FC236}">
                <a16:creationId xmlns:a16="http://schemas.microsoft.com/office/drawing/2014/main" id="{D271F044-56DB-D7A8-036F-58FF7E05293E}"/>
              </a:ext>
            </a:extLst>
          </p:cNvPr>
          <p:cNvSpPr/>
          <p:nvPr/>
        </p:nvSpPr>
        <p:spPr>
          <a:xfrm>
            <a:off x="3009899" y="4592678"/>
            <a:ext cx="2959509" cy="9886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rPr>
              <a:t>Date : 19/06/2026</a:t>
            </a:r>
          </a:p>
        </p:txBody>
      </p:sp>
      <p:sp>
        <p:nvSpPr>
          <p:cNvPr id="9" name="Rectangle 8">
            <a:extLst>
              <a:ext uri="{FF2B5EF4-FFF2-40B4-BE49-F238E27FC236}">
                <a16:creationId xmlns:a16="http://schemas.microsoft.com/office/drawing/2014/main" id="{D5158574-B495-FA82-9348-66378AF5C34B}"/>
              </a:ext>
            </a:extLst>
          </p:cNvPr>
          <p:cNvSpPr/>
          <p:nvPr/>
        </p:nvSpPr>
        <p:spPr>
          <a:xfrm>
            <a:off x="3167215" y="4016248"/>
            <a:ext cx="6261921" cy="9532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rPr>
              <a:t>Course name : Exploratory Data Analysis using Python </a:t>
            </a:r>
          </a:p>
          <a:p>
            <a:pPr algn="ctr"/>
            <a:endParaRPr lang="en-IN" sz="2000" dirty="0">
              <a:solidFill>
                <a:schemeClr val="tx1"/>
              </a:solidFill>
            </a:endParaRPr>
          </a:p>
          <a:p>
            <a:pPr algn="ctr"/>
            <a:endParaRPr lang="en-IN" sz="2000" dirty="0"/>
          </a:p>
        </p:txBody>
      </p:sp>
    </p:spTree>
    <p:extLst>
      <p:ext uri="{BB962C8B-B14F-4D97-AF65-F5344CB8AC3E}">
        <p14:creationId xmlns:p14="http://schemas.microsoft.com/office/powerpoint/2010/main" val="3920722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EFC09-48F6-9033-29B6-B37169878C68}"/>
              </a:ext>
            </a:extLst>
          </p:cNvPr>
          <p:cNvSpPr>
            <a:spLocks noGrp="1"/>
          </p:cNvSpPr>
          <p:nvPr>
            <p:ph type="title"/>
          </p:nvPr>
        </p:nvSpPr>
        <p:spPr/>
        <p:txBody>
          <a:bodyPr/>
          <a:lstStyle/>
          <a:p>
            <a:r>
              <a:rPr lang="en-IN" b="1" dirty="0"/>
              <a:t>                        Problem Statement</a:t>
            </a:r>
          </a:p>
        </p:txBody>
      </p:sp>
      <p:sp>
        <p:nvSpPr>
          <p:cNvPr id="3" name="Content Placeholder 2">
            <a:extLst>
              <a:ext uri="{FF2B5EF4-FFF2-40B4-BE49-F238E27FC236}">
                <a16:creationId xmlns:a16="http://schemas.microsoft.com/office/drawing/2014/main" id="{3F8EEA19-7F4B-E0C9-5D98-64008A81A36F}"/>
              </a:ext>
            </a:extLst>
          </p:cNvPr>
          <p:cNvSpPr>
            <a:spLocks noGrp="1"/>
          </p:cNvSpPr>
          <p:nvPr>
            <p:ph idx="1"/>
          </p:nvPr>
        </p:nvSpPr>
        <p:spPr/>
        <p:txBody>
          <a:bodyPr/>
          <a:lstStyle/>
          <a:p>
            <a:pPr marL="0" indent="0">
              <a:buNone/>
            </a:pPr>
            <a:r>
              <a:rPr lang="en-US" dirty="0"/>
              <a:t>E-commerce businesses generate large amounts of customer data, but extracting meaningful insights from this data can be challenging. Understanding customer spending patterns, membership performance, satisfaction levels, and purchasing behavior is essential for making informed business decisions. This project aims to analyze customer behavior data and develop an interactive dashboard that helps identify key trends, customer segments, and business opportunities.</a:t>
            </a:r>
            <a:endParaRPr lang="en-IN" dirty="0"/>
          </a:p>
        </p:txBody>
      </p:sp>
    </p:spTree>
    <p:extLst>
      <p:ext uri="{BB962C8B-B14F-4D97-AF65-F5344CB8AC3E}">
        <p14:creationId xmlns:p14="http://schemas.microsoft.com/office/powerpoint/2010/main" val="1151867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C19EB-5970-4F5D-639F-9286A1B4A2A2}"/>
              </a:ext>
            </a:extLst>
          </p:cNvPr>
          <p:cNvSpPr>
            <a:spLocks noGrp="1"/>
          </p:cNvSpPr>
          <p:nvPr>
            <p:ph type="title"/>
          </p:nvPr>
        </p:nvSpPr>
        <p:spPr/>
        <p:txBody>
          <a:bodyPr/>
          <a:lstStyle/>
          <a:p>
            <a:r>
              <a:rPr lang="en-IN" b="1" dirty="0"/>
              <a:t>			   Project Objective</a:t>
            </a:r>
          </a:p>
        </p:txBody>
      </p:sp>
      <p:sp>
        <p:nvSpPr>
          <p:cNvPr id="3" name="Content Placeholder 2">
            <a:extLst>
              <a:ext uri="{FF2B5EF4-FFF2-40B4-BE49-F238E27FC236}">
                <a16:creationId xmlns:a16="http://schemas.microsoft.com/office/drawing/2014/main" id="{7A3C0FC5-97DC-2B13-1184-271C2B17F23C}"/>
              </a:ext>
            </a:extLst>
          </p:cNvPr>
          <p:cNvSpPr>
            <a:spLocks noGrp="1"/>
          </p:cNvSpPr>
          <p:nvPr>
            <p:ph idx="1"/>
          </p:nvPr>
        </p:nvSpPr>
        <p:spPr/>
        <p:txBody>
          <a:bodyPr/>
          <a:lstStyle/>
          <a:p>
            <a:pPr marL="0" indent="0">
              <a:buNone/>
            </a:pPr>
            <a:r>
              <a:rPr lang="en-US" dirty="0"/>
              <a:t>The objective of this project is to analyze customer behavior using data analytics techniques and build an interactive dashboard that provides insights into customer spending, membership performance, satisfaction levels, and purchasing patterns. The dashboard enables stakeholders to make data-driven decisions for improving customer engagement, revenue generation, and business performance.</a:t>
            </a:r>
            <a:endParaRPr lang="en-IN" dirty="0"/>
          </a:p>
        </p:txBody>
      </p:sp>
    </p:spTree>
    <p:extLst>
      <p:ext uri="{BB962C8B-B14F-4D97-AF65-F5344CB8AC3E}">
        <p14:creationId xmlns:p14="http://schemas.microsoft.com/office/powerpoint/2010/main" val="2450582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FF554-D39A-01FC-91DA-0D4AA3A853ED}"/>
              </a:ext>
            </a:extLst>
          </p:cNvPr>
          <p:cNvSpPr>
            <a:spLocks noGrp="1"/>
          </p:cNvSpPr>
          <p:nvPr>
            <p:ph type="title"/>
          </p:nvPr>
        </p:nvSpPr>
        <p:spPr/>
        <p:txBody>
          <a:bodyPr/>
          <a:lstStyle/>
          <a:p>
            <a:r>
              <a:rPr lang="en-IN" dirty="0"/>
              <a:t>                         Dataset Overview</a:t>
            </a:r>
          </a:p>
        </p:txBody>
      </p:sp>
      <p:sp>
        <p:nvSpPr>
          <p:cNvPr id="3" name="Content Placeholder 2">
            <a:extLst>
              <a:ext uri="{FF2B5EF4-FFF2-40B4-BE49-F238E27FC236}">
                <a16:creationId xmlns:a16="http://schemas.microsoft.com/office/drawing/2014/main" id="{019B284D-9C74-7040-348D-93B1D7885A3D}"/>
              </a:ext>
            </a:extLst>
          </p:cNvPr>
          <p:cNvSpPr>
            <a:spLocks noGrp="1"/>
          </p:cNvSpPr>
          <p:nvPr>
            <p:ph idx="1"/>
          </p:nvPr>
        </p:nvSpPr>
        <p:spPr/>
        <p:txBody>
          <a:bodyPr/>
          <a:lstStyle/>
          <a:p>
            <a:pPr marL="0" indent="0">
              <a:buNone/>
            </a:pPr>
            <a:r>
              <a:rPr lang="en-US" dirty="0"/>
              <a:t>The dataset contains customer-related information collected from an e-commerce platform. It includes customer demographics, city information, membership types, total spending, items purchased, customer ratings, satisfaction levels, and purchase history. The dataset was analyzed using Python, Pandas, Plotly, and </a:t>
            </a:r>
            <a:r>
              <a:rPr lang="en-US" dirty="0" err="1"/>
              <a:t>Streamlit</a:t>
            </a:r>
            <a:r>
              <a:rPr lang="en-US" dirty="0"/>
              <a:t> to uncover customer behavior patterns and generate actionable business insights.</a:t>
            </a:r>
            <a:endParaRPr lang="en-IN" dirty="0"/>
          </a:p>
        </p:txBody>
      </p:sp>
    </p:spTree>
    <p:extLst>
      <p:ext uri="{BB962C8B-B14F-4D97-AF65-F5344CB8AC3E}">
        <p14:creationId xmlns:p14="http://schemas.microsoft.com/office/powerpoint/2010/main" val="3579572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3AB45-C520-5385-6AD0-9F60FED929CB}"/>
              </a:ext>
            </a:extLst>
          </p:cNvPr>
          <p:cNvSpPr>
            <a:spLocks noGrp="1"/>
          </p:cNvSpPr>
          <p:nvPr>
            <p:ph type="title"/>
          </p:nvPr>
        </p:nvSpPr>
        <p:spPr>
          <a:xfrm>
            <a:off x="3074670" y="344805"/>
            <a:ext cx="6042660" cy="1325563"/>
          </a:xfrm>
        </p:spPr>
        <p:txBody>
          <a:bodyPr>
            <a:normAutofit/>
          </a:bodyPr>
          <a:lstStyle/>
          <a:p>
            <a:r>
              <a:rPr lang="en-IN" b="1" dirty="0"/>
              <a:t>Tools &amp; Technologies used</a:t>
            </a:r>
          </a:p>
        </p:txBody>
      </p:sp>
      <p:sp>
        <p:nvSpPr>
          <p:cNvPr id="3" name="Content Placeholder 2">
            <a:extLst>
              <a:ext uri="{FF2B5EF4-FFF2-40B4-BE49-F238E27FC236}">
                <a16:creationId xmlns:a16="http://schemas.microsoft.com/office/drawing/2014/main" id="{320E65ED-E229-26EF-0AF7-8E9A0913EDFE}"/>
              </a:ext>
            </a:extLst>
          </p:cNvPr>
          <p:cNvSpPr>
            <a:spLocks noGrp="1"/>
          </p:cNvSpPr>
          <p:nvPr>
            <p:ph idx="1"/>
          </p:nvPr>
        </p:nvSpPr>
        <p:spPr>
          <a:xfrm>
            <a:off x="561339" y="1815465"/>
            <a:ext cx="11316029" cy="4351338"/>
          </a:xfrm>
        </p:spPr>
        <p:txBody>
          <a:bodyPr>
            <a:normAutofit lnSpcReduction="10000"/>
          </a:bodyPr>
          <a:lstStyle/>
          <a:p>
            <a:r>
              <a:rPr lang="en-IN" dirty="0"/>
              <a:t>Python : Core programming language for analysis and dashboard development</a:t>
            </a:r>
          </a:p>
          <a:p>
            <a:r>
              <a:rPr lang="en-IN" dirty="0"/>
              <a:t>Pandas : Data cleaning, transformation, and analysis</a:t>
            </a:r>
          </a:p>
          <a:p>
            <a:r>
              <a:rPr lang="en-IN" dirty="0"/>
              <a:t>SQL : Data querying and business analysis</a:t>
            </a:r>
          </a:p>
          <a:p>
            <a:r>
              <a:rPr lang="en-IN" dirty="0"/>
              <a:t>Streamlit : Interactive dashboard development</a:t>
            </a:r>
          </a:p>
          <a:p>
            <a:r>
              <a:rPr lang="en-IN" dirty="0"/>
              <a:t>VS Code : Dashboard Development</a:t>
            </a:r>
          </a:p>
          <a:p>
            <a:r>
              <a:rPr lang="en-IN" dirty="0"/>
              <a:t>NumPy : Numerical computations and data processing</a:t>
            </a:r>
          </a:p>
          <a:p>
            <a:r>
              <a:rPr lang="en-IN" dirty="0"/>
              <a:t>Matplotlib :Exploratory visualizations and analysis</a:t>
            </a:r>
          </a:p>
          <a:p>
            <a:r>
              <a:rPr lang="en-IN" dirty="0"/>
              <a:t>Seaborn :Statistical visualizations and outlier detection</a:t>
            </a:r>
          </a:p>
        </p:txBody>
      </p:sp>
    </p:spTree>
    <p:extLst>
      <p:ext uri="{BB962C8B-B14F-4D97-AF65-F5344CB8AC3E}">
        <p14:creationId xmlns:p14="http://schemas.microsoft.com/office/powerpoint/2010/main" val="1662897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30DBF-C9CB-056A-1227-90CE771EBD25}"/>
              </a:ext>
            </a:extLst>
          </p:cNvPr>
          <p:cNvSpPr>
            <a:spLocks noGrp="1"/>
          </p:cNvSpPr>
          <p:nvPr>
            <p:ph type="title"/>
          </p:nvPr>
        </p:nvSpPr>
        <p:spPr>
          <a:xfrm>
            <a:off x="4061460" y="436245"/>
            <a:ext cx="4069080" cy="945515"/>
          </a:xfrm>
        </p:spPr>
        <p:txBody>
          <a:bodyPr/>
          <a:lstStyle/>
          <a:p>
            <a:r>
              <a:rPr lang="en-IN" b="1" dirty="0"/>
              <a:t>Outlier Detection</a:t>
            </a:r>
          </a:p>
        </p:txBody>
      </p:sp>
      <p:pic>
        <p:nvPicPr>
          <p:cNvPr id="5" name="Content Placeholder 4">
            <a:extLst>
              <a:ext uri="{FF2B5EF4-FFF2-40B4-BE49-F238E27FC236}">
                <a16:creationId xmlns:a16="http://schemas.microsoft.com/office/drawing/2014/main" id="{3BF72F08-127E-AFE9-F5D6-F8882F2DB8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44198" y="1825625"/>
            <a:ext cx="6703603" cy="4351338"/>
          </a:xfrm>
          <a:prstGeom prst="rect">
            <a:avLst/>
          </a:prstGeom>
        </p:spPr>
      </p:pic>
    </p:spTree>
    <p:extLst>
      <p:ext uri="{BB962C8B-B14F-4D97-AF65-F5344CB8AC3E}">
        <p14:creationId xmlns:p14="http://schemas.microsoft.com/office/powerpoint/2010/main" val="3871376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7056-6E98-5318-72A9-BFECC43466E9}"/>
              </a:ext>
            </a:extLst>
          </p:cNvPr>
          <p:cNvSpPr>
            <a:spLocks noGrp="1"/>
          </p:cNvSpPr>
          <p:nvPr>
            <p:ph type="title"/>
          </p:nvPr>
        </p:nvSpPr>
        <p:spPr>
          <a:xfrm>
            <a:off x="4605020" y="253365"/>
            <a:ext cx="2981960" cy="813435"/>
          </a:xfrm>
        </p:spPr>
        <p:txBody>
          <a:bodyPr/>
          <a:lstStyle/>
          <a:p>
            <a:r>
              <a:rPr lang="en-IN" b="1" dirty="0"/>
              <a:t>SQL Analysis</a:t>
            </a:r>
          </a:p>
        </p:txBody>
      </p:sp>
      <p:pic>
        <p:nvPicPr>
          <p:cNvPr id="5" name="Content Placeholder 4">
            <a:extLst>
              <a:ext uri="{FF2B5EF4-FFF2-40B4-BE49-F238E27FC236}">
                <a16:creationId xmlns:a16="http://schemas.microsoft.com/office/drawing/2014/main" id="{0B498AAB-6C38-46D3-6C34-33A8761369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1880" y="1331596"/>
            <a:ext cx="10048240" cy="5161279"/>
          </a:xfrm>
          <a:prstGeom prst="rect">
            <a:avLst/>
          </a:prstGeom>
        </p:spPr>
      </p:pic>
    </p:spTree>
    <p:extLst>
      <p:ext uri="{BB962C8B-B14F-4D97-AF65-F5344CB8AC3E}">
        <p14:creationId xmlns:p14="http://schemas.microsoft.com/office/powerpoint/2010/main" val="1367815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F4724-D25A-194D-81BF-5DC9798E515D}"/>
              </a:ext>
            </a:extLst>
          </p:cNvPr>
          <p:cNvSpPr>
            <a:spLocks noGrp="1"/>
          </p:cNvSpPr>
          <p:nvPr>
            <p:ph type="title"/>
          </p:nvPr>
        </p:nvSpPr>
        <p:spPr>
          <a:xfrm>
            <a:off x="3609667" y="561770"/>
            <a:ext cx="4972665" cy="1325563"/>
          </a:xfrm>
        </p:spPr>
        <p:txBody>
          <a:bodyPr/>
          <a:lstStyle/>
          <a:p>
            <a:r>
              <a:rPr lang="en-US" b="1" dirty="0"/>
              <a:t>Dashboard Overview</a:t>
            </a:r>
            <a:endParaRPr lang="en-IN" b="1" dirty="0"/>
          </a:p>
        </p:txBody>
      </p:sp>
      <p:pic>
        <p:nvPicPr>
          <p:cNvPr id="5" name="Content Placeholder 4">
            <a:extLst>
              <a:ext uri="{FF2B5EF4-FFF2-40B4-BE49-F238E27FC236}">
                <a16:creationId xmlns:a16="http://schemas.microsoft.com/office/drawing/2014/main" id="{429D29CB-C624-8509-4597-836869E0DE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1934036"/>
            <a:ext cx="10515600" cy="2210389"/>
          </a:xfrm>
          <a:prstGeom prst="rect">
            <a:avLst/>
          </a:prstGeom>
        </p:spPr>
      </p:pic>
      <p:sp>
        <p:nvSpPr>
          <p:cNvPr id="3" name="Rectangle 2">
            <a:extLst>
              <a:ext uri="{FF2B5EF4-FFF2-40B4-BE49-F238E27FC236}">
                <a16:creationId xmlns:a16="http://schemas.microsoft.com/office/drawing/2014/main" id="{8E6EDCB5-7D7E-441B-ADE2-3478DA6D380A}"/>
              </a:ext>
            </a:extLst>
          </p:cNvPr>
          <p:cNvSpPr/>
          <p:nvPr/>
        </p:nvSpPr>
        <p:spPr>
          <a:xfrm>
            <a:off x="2961966" y="4650658"/>
            <a:ext cx="6268066" cy="12388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Gold members generate the highest business value.</a:t>
            </a:r>
          </a:p>
          <a:p>
            <a:r>
              <a:rPr lang="en-US" dirty="0">
                <a:solidFill>
                  <a:schemeClr val="tx1"/>
                </a:solidFill>
              </a:rPr>
              <a:t>San Francisco is the strongest-performing market.</a:t>
            </a:r>
          </a:p>
          <a:p>
            <a:r>
              <a:rPr lang="en-US" dirty="0">
                <a:solidFill>
                  <a:schemeClr val="tx1"/>
                </a:solidFill>
              </a:rPr>
              <a:t>Customer ratings remain consistently positive (4.02/5).</a:t>
            </a:r>
          </a:p>
          <a:p>
            <a:r>
              <a:rPr lang="en-US" dirty="0">
                <a:solidFill>
                  <a:schemeClr val="tx1"/>
                </a:solidFill>
              </a:rPr>
              <a:t>Customer satisfaction presents an opportunity for improvement.</a:t>
            </a:r>
            <a:endParaRPr lang="en-IN" dirty="0">
              <a:solidFill>
                <a:schemeClr val="tx1"/>
              </a:solidFill>
            </a:endParaRPr>
          </a:p>
        </p:txBody>
      </p:sp>
    </p:spTree>
    <p:extLst>
      <p:ext uri="{BB962C8B-B14F-4D97-AF65-F5344CB8AC3E}">
        <p14:creationId xmlns:p14="http://schemas.microsoft.com/office/powerpoint/2010/main" val="3312347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7AFC2-ADAA-F8CF-41DE-442CF168E5AF}"/>
              </a:ext>
            </a:extLst>
          </p:cNvPr>
          <p:cNvSpPr>
            <a:spLocks noGrp="1"/>
          </p:cNvSpPr>
          <p:nvPr>
            <p:ph type="title"/>
          </p:nvPr>
        </p:nvSpPr>
        <p:spPr>
          <a:xfrm>
            <a:off x="4024464" y="0"/>
            <a:ext cx="4143069" cy="1325563"/>
          </a:xfrm>
        </p:spPr>
        <p:txBody>
          <a:bodyPr/>
          <a:lstStyle/>
          <a:p>
            <a:r>
              <a:rPr lang="en-US" b="1" dirty="0"/>
              <a:t>Overview Analysis</a:t>
            </a:r>
            <a:endParaRPr lang="en-IN" b="1" dirty="0"/>
          </a:p>
        </p:txBody>
      </p:sp>
      <p:pic>
        <p:nvPicPr>
          <p:cNvPr id="5" name="Content Placeholder 4">
            <a:extLst>
              <a:ext uri="{FF2B5EF4-FFF2-40B4-BE49-F238E27FC236}">
                <a16:creationId xmlns:a16="http://schemas.microsoft.com/office/drawing/2014/main" id="{2BABE251-0266-8171-ABF4-2C5EAB8C6F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8476" y="1120878"/>
            <a:ext cx="10255046" cy="5535561"/>
          </a:xfrm>
          <a:prstGeom prst="rect">
            <a:avLst/>
          </a:prstGeom>
        </p:spPr>
      </p:pic>
    </p:spTree>
    <p:extLst>
      <p:ext uri="{BB962C8B-B14F-4D97-AF65-F5344CB8AC3E}">
        <p14:creationId xmlns:p14="http://schemas.microsoft.com/office/powerpoint/2010/main" val="1941443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7680C-F15F-8D98-CB94-5B47A833ABB4}"/>
              </a:ext>
            </a:extLst>
          </p:cNvPr>
          <p:cNvSpPr>
            <a:spLocks noGrp="1"/>
          </p:cNvSpPr>
          <p:nvPr>
            <p:ph type="title"/>
          </p:nvPr>
        </p:nvSpPr>
        <p:spPr>
          <a:xfrm>
            <a:off x="3887647" y="399850"/>
            <a:ext cx="4416706" cy="803918"/>
          </a:xfrm>
        </p:spPr>
        <p:txBody>
          <a:bodyPr/>
          <a:lstStyle/>
          <a:p>
            <a:r>
              <a:rPr lang="en-US" b="1" dirty="0"/>
              <a:t>Customer Analysis</a:t>
            </a:r>
            <a:endParaRPr lang="en-IN" b="1" dirty="0"/>
          </a:p>
        </p:txBody>
      </p:sp>
      <p:pic>
        <p:nvPicPr>
          <p:cNvPr id="5" name="Content Placeholder 4">
            <a:extLst>
              <a:ext uri="{FF2B5EF4-FFF2-40B4-BE49-F238E27FC236}">
                <a16:creationId xmlns:a16="http://schemas.microsoft.com/office/drawing/2014/main" id="{0B0B72FC-E559-049F-782D-1FC9075D27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4916" y="1319514"/>
            <a:ext cx="11262167" cy="5138636"/>
          </a:xfrm>
          <a:prstGeom prst="rect">
            <a:avLst/>
          </a:prstGeom>
        </p:spPr>
      </p:pic>
    </p:spTree>
    <p:extLst>
      <p:ext uri="{BB962C8B-B14F-4D97-AF65-F5344CB8AC3E}">
        <p14:creationId xmlns:p14="http://schemas.microsoft.com/office/powerpoint/2010/main" val="2798587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BE898-1489-36A8-0E2E-C8C14DC44F49}"/>
              </a:ext>
            </a:extLst>
          </p:cNvPr>
          <p:cNvSpPr>
            <a:spLocks noGrp="1"/>
          </p:cNvSpPr>
          <p:nvPr>
            <p:ph type="title"/>
          </p:nvPr>
        </p:nvSpPr>
        <p:spPr>
          <a:xfrm>
            <a:off x="4101776" y="222813"/>
            <a:ext cx="3988443" cy="954389"/>
          </a:xfrm>
        </p:spPr>
        <p:txBody>
          <a:bodyPr/>
          <a:lstStyle/>
          <a:p>
            <a:r>
              <a:rPr lang="en-US" b="1" dirty="0"/>
              <a:t>Business Insights</a:t>
            </a:r>
            <a:endParaRPr lang="en-IN" b="1" dirty="0"/>
          </a:p>
        </p:txBody>
      </p:sp>
      <p:pic>
        <p:nvPicPr>
          <p:cNvPr id="5" name="Content Placeholder 4">
            <a:extLst>
              <a:ext uri="{FF2B5EF4-FFF2-40B4-BE49-F238E27FC236}">
                <a16:creationId xmlns:a16="http://schemas.microsoft.com/office/drawing/2014/main" id="{6CAE4017-897C-EF0A-933E-EEAE2AF70E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9047" y="1322407"/>
            <a:ext cx="10833903" cy="5312780"/>
          </a:xfrm>
          <a:prstGeom prst="rect">
            <a:avLst/>
          </a:prstGeom>
        </p:spPr>
      </p:pic>
    </p:spTree>
    <p:extLst>
      <p:ext uri="{BB962C8B-B14F-4D97-AF65-F5344CB8AC3E}">
        <p14:creationId xmlns:p14="http://schemas.microsoft.com/office/powerpoint/2010/main" val="2266341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E8540-01DB-D983-3598-E4D03AB51A4C}"/>
              </a:ext>
            </a:extLst>
          </p:cNvPr>
          <p:cNvSpPr>
            <a:spLocks noGrp="1"/>
          </p:cNvSpPr>
          <p:nvPr>
            <p:ph type="title"/>
          </p:nvPr>
        </p:nvSpPr>
        <p:spPr>
          <a:xfrm>
            <a:off x="4009181" y="365125"/>
            <a:ext cx="4173638" cy="954389"/>
          </a:xfrm>
        </p:spPr>
        <p:txBody>
          <a:bodyPr/>
          <a:lstStyle/>
          <a:p>
            <a:r>
              <a:rPr lang="en-US" b="1" dirty="0"/>
              <a:t>Business Insights</a:t>
            </a:r>
            <a:endParaRPr lang="en-IN" b="1" dirty="0"/>
          </a:p>
        </p:txBody>
      </p:sp>
      <p:pic>
        <p:nvPicPr>
          <p:cNvPr id="5" name="Content Placeholder 4">
            <a:extLst>
              <a:ext uri="{FF2B5EF4-FFF2-40B4-BE49-F238E27FC236}">
                <a16:creationId xmlns:a16="http://schemas.microsoft.com/office/drawing/2014/main" id="{9D20E507-2B10-3595-4C7E-E5AFB8841C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3667" y="1655181"/>
            <a:ext cx="11384666" cy="4837694"/>
          </a:xfrm>
          <a:prstGeom prst="rect">
            <a:avLst/>
          </a:prstGeom>
        </p:spPr>
      </p:pic>
    </p:spTree>
    <p:extLst>
      <p:ext uri="{BB962C8B-B14F-4D97-AF65-F5344CB8AC3E}">
        <p14:creationId xmlns:p14="http://schemas.microsoft.com/office/powerpoint/2010/main" val="1316629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2B2D5-742F-BF6E-71BD-05F1E4B337C9}"/>
              </a:ext>
            </a:extLst>
          </p:cNvPr>
          <p:cNvSpPr>
            <a:spLocks noGrp="1"/>
          </p:cNvSpPr>
          <p:nvPr>
            <p:ph type="title"/>
          </p:nvPr>
        </p:nvSpPr>
        <p:spPr>
          <a:xfrm>
            <a:off x="2411873" y="399849"/>
            <a:ext cx="7368251" cy="1325563"/>
          </a:xfrm>
        </p:spPr>
        <p:txBody>
          <a:bodyPr/>
          <a:lstStyle/>
          <a:p>
            <a:r>
              <a:rPr lang="en-US" b="1" dirty="0"/>
              <a:t>Data-Driven Recommendations</a:t>
            </a:r>
            <a:endParaRPr lang="en-IN" b="1" dirty="0"/>
          </a:p>
        </p:txBody>
      </p:sp>
      <p:pic>
        <p:nvPicPr>
          <p:cNvPr id="9" name="Content Placeholder 8">
            <a:extLst>
              <a:ext uri="{FF2B5EF4-FFF2-40B4-BE49-F238E27FC236}">
                <a16:creationId xmlns:a16="http://schemas.microsoft.com/office/drawing/2014/main" id="{AD75912B-1166-CC43-382A-8D12F7537D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0582" y="1598089"/>
            <a:ext cx="10590836" cy="4605941"/>
          </a:xfrm>
          <a:prstGeom prst="rect">
            <a:avLst/>
          </a:prstGeom>
        </p:spPr>
      </p:pic>
    </p:spTree>
    <p:extLst>
      <p:ext uri="{BB962C8B-B14F-4D97-AF65-F5344CB8AC3E}">
        <p14:creationId xmlns:p14="http://schemas.microsoft.com/office/powerpoint/2010/main" val="2463067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DFF87-A9FC-8241-DC19-07037A05A5B0}"/>
              </a:ext>
            </a:extLst>
          </p:cNvPr>
          <p:cNvSpPr>
            <a:spLocks noGrp="1"/>
          </p:cNvSpPr>
          <p:nvPr>
            <p:ph type="title"/>
          </p:nvPr>
        </p:nvSpPr>
        <p:spPr/>
        <p:txBody>
          <a:bodyPr/>
          <a:lstStyle/>
          <a:p>
            <a:r>
              <a:rPr lang="en-IN" b="1" dirty="0"/>
              <a:t>				Key Findings</a:t>
            </a:r>
          </a:p>
        </p:txBody>
      </p:sp>
      <p:sp>
        <p:nvSpPr>
          <p:cNvPr id="3" name="Content Placeholder 2">
            <a:extLst>
              <a:ext uri="{FF2B5EF4-FFF2-40B4-BE49-F238E27FC236}">
                <a16:creationId xmlns:a16="http://schemas.microsoft.com/office/drawing/2014/main" id="{16068DFF-1839-6E91-E96A-82AF3F190551}"/>
              </a:ext>
            </a:extLst>
          </p:cNvPr>
          <p:cNvSpPr>
            <a:spLocks noGrp="1"/>
          </p:cNvSpPr>
          <p:nvPr>
            <p:ph idx="1"/>
          </p:nvPr>
        </p:nvSpPr>
        <p:spPr/>
        <p:txBody>
          <a:bodyPr>
            <a:normAutofit fontScale="92500" lnSpcReduction="20000"/>
          </a:bodyPr>
          <a:lstStyle/>
          <a:p>
            <a:r>
              <a:rPr lang="en-US" dirty="0"/>
              <a:t>Gold Membership Tier generated the highest overall revenue.</a:t>
            </a:r>
          </a:p>
          <a:p>
            <a:r>
              <a:rPr lang="en-US" dirty="0"/>
              <a:t>Certain cities showed significantly higher average customer spending.</a:t>
            </a:r>
          </a:p>
          <a:p>
            <a:r>
              <a:rPr lang="en-US" dirty="0"/>
              <a:t>Customer distribution varied across membership tiers, highlighting differences in customer engagement.</a:t>
            </a:r>
          </a:p>
          <a:p>
            <a:r>
              <a:rPr lang="en-US" dirty="0"/>
              <a:t>Customer satisfaction levels were generally positive across the customer base.</a:t>
            </a:r>
          </a:p>
          <a:p>
            <a:r>
              <a:rPr lang="en-US" dirty="0"/>
              <a:t>Average ratings remained consistently high across most cities and membership types.</a:t>
            </a:r>
          </a:p>
          <a:p>
            <a:r>
              <a:rPr lang="en-US" dirty="0"/>
              <a:t>Some high-spending customers had not made recent purchases, indicating opportunities for customer retention campaigns.</a:t>
            </a:r>
          </a:p>
          <a:p>
            <a:r>
              <a:rPr lang="en-US" dirty="0"/>
              <a:t>Purchasing behavior differed across cities, with some cities showing higher average items purchased per customer.</a:t>
            </a:r>
            <a:endParaRPr lang="en-IN" dirty="0"/>
          </a:p>
        </p:txBody>
      </p:sp>
    </p:spTree>
    <p:extLst>
      <p:ext uri="{BB962C8B-B14F-4D97-AF65-F5344CB8AC3E}">
        <p14:creationId xmlns:p14="http://schemas.microsoft.com/office/powerpoint/2010/main" val="1281242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256FC-8E78-64E4-77E7-0EB5C8BAE36A}"/>
              </a:ext>
            </a:extLst>
          </p:cNvPr>
          <p:cNvSpPr>
            <a:spLocks noGrp="1"/>
          </p:cNvSpPr>
          <p:nvPr>
            <p:ph type="title"/>
          </p:nvPr>
        </p:nvSpPr>
        <p:spPr/>
        <p:txBody>
          <a:bodyPr/>
          <a:lstStyle/>
          <a:p>
            <a:r>
              <a:rPr lang="en-IN" b="1" dirty="0"/>
              <a:t>				Conclusion</a:t>
            </a:r>
          </a:p>
        </p:txBody>
      </p:sp>
      <p:sp>
        <p:nvSpPr>
          <p:cNvPr id="3" name="Content Placeholder 2">
            <a:extLst>
              <a:ext uri="{FF2B5EF4-FFF2-40B4-BE49-F238E27FC236}">
                <a16:creationId xmlns:a16="http://schemas.microsoft.com/office/drawing/2014/main" id="{CD8BECC2-BFC4-A727-51FA-FD00543F2F4E}"/>
              </a:ext>
            </a:extLst>
          </p:cNvPr>
          <p:cNvSpPr>
            <a:spLocks noGrp="1"/>
          </p:cNvSpPr>
          <p:nvPr>
            <p:ph idx="1"/>
          </p:nvPr>
        </p:nvSpPr>
        <p:spPr/>
        <p:txBody>
          <a:bodyPr/>
          <a:lstStyle/>
          <a:p>
            <a:pPr marL="0" indent="0">
              <a:buNone/>
            </a:pPr>
            <a:r>
              <a:rPr lang="en-US" dirty="0"/>
              <a:t>The analysis revealed valuable insights into customer spending behavior, membership performance, customer satisfaction, and purchasing patterns. The interactive dashboard provides a comprehensive view of business performance and customer engagement. The findings can support strategic decisions related to marketing, customer retention, membership programs, and revenue growth. By leveraging data-driven insights, businesses can improve customer experience and optimize overall performance.</a:t>
            </a:r>
            <a:endParaRPr lang="en-IN" dirty="0"/>
          </a:p>
        </p:txBody>
      </p:sp>
    </p:spTree>
    <p:extLst>
      <p:ext uri="{BB962C8B-B14F-4D97-AF65-F5344CB8AC3E}">
        <p14:creationId xmlns:p14="http://schemas.microsoft.com/office/powerpoint/2010/main" val="2253639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424</TotalTime>
  <Words>506</Words>
  <Application>Microsoft Office PowerPoint</Application>
  <PresentationFormat>Widescreen</PresentationFormat>
  <Paragraphs>42</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Cambria</vt:lpstr>
      <vt:lpstr>Office Theme</vt:lpstr>
      <vt:lpstr>E-Commerce Customer Behaviour Analysis           using Gen AI</vt:lpstr>
      <vt:lpstr>                        Problem Statement</vt:lpstr>
      <vt:lpstr>      Project Objective</vt:lpstr>
      <vt:lpstr>                         Dataset Overview</vt:lpstr>
      <vt:lpstr>Tools &amp; Technologies used</vt:lpstr>
      <vt:lpstr>Outlier Detection</vt:lpstr>
      <vt:lpstr>SQL Analysis</vt:lpstr>
      <vt:lpstr>Dashboard Overview</vt:lpstr>
      <vt:lpstr>Overview Analysis</vt:lpstr>
      <vt:lpstr>Customer Analysis</vt:lpstr>
      <vt:lpstr>Business Insights</vt:lpstr>
      <vt:lpstr>Business Insights</vt:lpstr>
      <vt:lpstr>Data-Driven Recommendations</vt:lpstr>
      <vt:lpstr>    Key Findings</vt:lpstr>
      <vt:lpstr>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shreyas mayekar</dc:creator>
  <cp:lastModifiedBy>shreyas mayekar</cp:lastModifiedBy>
  <cp:revision>3</cp:revision>
  <dcterms:created xsi:type="dcterms:W3CDTF">2026-06-18T03:52:22Z</dcterms:created>
  <dcterms:modified xsi:type="dcterms:W3CDTF">2026-06-19T05:33:36Z</dcterms:modified>
</cp:coreProperties>
</file>